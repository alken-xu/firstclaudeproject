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63" d="100"/>
          <a:sy n="63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430709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4A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005840"/>
            <a:ext cx="12192000" cy="3657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303520"/>
            <a:ext cx="12192000" cy="3657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463040"/>
            <a:ext cx="104241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ClaudeCodeで旅館予約サイトを</a:t>
            </a:r>
            <a:endParaRPr lang="en-US" sz="3600" dirty="0"/>
          </a:p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作ってみた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3383280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C9A84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要件定義 → 実装 → テスト を「会話だけ」で完結させる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5577840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株式会社シャインソフト  社内勉強会  |  2026年4月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2C4A3E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ClaudeCodeとは？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914400"/>
            <a:ext cx="12192000" cy="5486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972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C4A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CLI型 AI コーディングエージェント</a:t>
            </a:r>
            <a:endParaRPr lang="en-US" sz="2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37360"/>
          <a:ext cx="6858000" cy="228600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46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内容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4A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提供元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Anthropic（Claude AI）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形式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CLIツール / VS Code拡張 / デスクトップアプリ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料金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Pro プラン（月額定額）で利用可能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最大の特徴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会話するだけで、コードを書き・実行し・Gitに上げる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680960" y="109728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C4A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できること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680960" y="164592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▶  ファイルの読み書き・コード生成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680960" y="210312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▶  ターミナルコマンドの実行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680960" y="256032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▶  Webページの参照・情報収集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680960" y="301752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▶  ブラウザ操作（Playwright連携）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680960" y="347472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▶  GitHubへのコミット・プッシュ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57200" y="4297680"/>
            <a:ext cx="10972800" cy="822960"/>
          </a:xfrm>
          <a:prstGeom prst="rect">
            <a:avLst/>
          </a:prstGeom>
          <a:solidFill>
            <a:srgbClr val="2C4A3E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434340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457200" y="42976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「何をしたいか」を伝えるだけで、手順はClaudeが考えて実行する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2C4A3E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デモの全体像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914400"/>
            <a:ext cx="12192000" cy="5486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972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C4A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今回作ったもの：「山の湯 花結（やまのゆ はなゆい）」旅館予約サイト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1737360"/>
            <a:ext cx="3474720" cy="2926080"/>
          </a:xfrm>
          <a:prstGeom prst="rect">
            <a:avLst/>
          </a:prstGeom>
          <a:solidFill>
            <a:srgbClr val="E8F0ED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8288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C4A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C4A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要件定義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28346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A052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約1時間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3291840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Web参照 → 要件定義書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自動生成 → GitHub push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023360" y="283464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9A84C"/>
                </a:solidFill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4297680" y="1737360"/>
            <a:ext cx="3474720" cy="2926080"/>
          </a:xfrm>
          <a:prstGeom prst="rect">
            <a:avLst/>
          </a:prstGeom>
          <a:solidFill>
            <a:srgbClr val="2C4A3E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97680" y="18288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9A84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297680" y="228600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開発実装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297680" y="28346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9A84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約2〜3時間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480560" y="3291840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AF8F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初期構築 → 画像 → 地図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FAF8F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メール → UI改善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863840" y="283464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9A84C"/>
                </a:solidFill>
              </a:rPr>
              <a:t>→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8138160" y="1737360"/>
            <a:ext cx="3474720" cy="2926080"/>
          </a:xfrm>
          <a:prstGeom prst="rect">
            <a:avLst/>
          </a:prstGeom>
          <a:solidFill>
            <a:srgbClr val="E8F0ED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138160" y="18288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C4A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138160" y="228600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C4A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自動テスト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8138160" y="28346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A052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約30分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321040" y="3291840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テスト設計・実行 →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Excelレポート出力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4846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成果物  |  React 10ページ + Express 9 API + SQLite + メール送信 + Playwright 16テスト + Excelレポート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2C4A3E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1：要件定義（Web参照 → 自動生成 → GitHub push）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914400"/>
            <a:ext cx="12192000" cy="5486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097280"/>
            <a:ext cx="640080" cy="640080"/>
          </a:xfrm>
          <a:prstGeom prst="rect">
            <a:avLst/>
          </a:prstGeom>
          <a:solidFill>
            <a:srgbClr val="2C4A3E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0972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9A84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88720" y="10972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C4A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Web情報を参照して要件定義を生成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188720" y="1554480"/>
            <a:ext cx="10058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参考サイトのURLを渡すだけ → サイト構成を読み取り → 要件定義書（Markdown）を自動生成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ページ構成・データモデル・API設計・技術スタックを一括出力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2468880"/>
            <a:ext cx="640080" cy="640080"/>
          </a:xfrm>
          <a:prstGeom prst="rect">
            <a:avLst/>
          </a:prstGeom>
          <a:solidFill>
            <a:srgbClr val="2C4A3E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24688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9A84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24688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C4A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GitHubへの自動プッシュ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188720" y="2926080"/>
            <a:ext cx="10058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git init → gh repo create → git push をすべて自動実行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GitHub CLIのパスも自力で探索して解決（環境依存問題も自己解消）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5760" y="3840480"/>
            <a:ext cx="640080" cy="640080"/>
          </a:xfrm>
          <a:prstGeom prst="rect">
            <a:avLst/>
          </a:prstGeom>
          <a:solidFill>
            <a:srgbClr val="2C4A3E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38404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9A84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18872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C4A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技術スタック選定の支援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188720" y="4297680"/>
            <a:ext cx="10058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ユーザーのスキル（JS/Node.js経験あり・React未経験）を踏まえて選択肢を比較提示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最新技術を押しつけず、ユーザーが読めるレベルを優先して提案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65760" y="5074920"/>
            <a:ext cx="11155680" cy="4572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5120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決定技術スタック：React + Vite + Tailwind CSS  /  Express + SQLite (better-sqlite3)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65760" y="507492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決定技術スタック：React + Vite + Tailwind CSS  /  Express + SQLite (better-sqlite3)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2C4A3E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セッション管理の工夫 — 記憶の限界をファイルで補う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914400"/>
            <a:ext cx="12192000" cy="5486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5156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052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ClaudeCodeはセッションをまたいで記憶を保持しない  →  ファイルベースの引き継ぎ設計で解決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600200"/>
            <a:ext cx="6858000" cy="1737360"/>
          </a:xfrm>
          <a:prstGeom prst="rect">
            <a:avLst/>
          </a:prstGeom>
          <a:solidFill>
            <a:srgbClr val="2D2012"/>
          </a:solidFill>
          <a:ln w="12700">
            <a:solidFill>
              <a:srgbClr val="1A120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691640"/>
            <a:ext cx="65836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firstClaudeProject/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CLAUDE.md                ← 共通情報（毎回自動参照）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session-requirements.md  ← 要件定義セッション専用ルール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session-dev.md           ← 開発セッション専用ルール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session-test.md          ← テストセッション専用ルール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requirements.md          ← 要件定義書（セッション間の橋渡し）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589520" y="1600200"/>
            <a:ext cx="4572000" cy="1737360"/>
          </a:xfrm>
          <a:prstGeom prst="rect">
            <a:avLst/>
          </a:prstGeom>
          <a:solidFill>
            <a:srgbClr val="E8F0ED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0" y="169164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4A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メモリ機能（永続保存）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0" y="2148840"/>
            <a:ext cx="42062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プロジェクト情報・ユーザープロフィールを memory/ フォルダに自動保存。次回セッション開始時に自動読み込み。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47472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C4A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セッション開始は一行だけ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931920"/>
            <a:ext cx="11430000" cy="594360"/>
          </a:xfrm>
          <a:prstGeom prst="rect">
            <a:avLst/>
          </a:prstGeom>
          <a:solidFill>
            <a:srgbClr val="2D2012"/>
          </a:solidFill>
          <a:ln w="12700">
            <a:solidFill>
              <a:srgbClr val="1A120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4023360"/>
            <a:ext cx="11155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"session-dev.md を読んで、その指示に従って作業してください"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4663440"/>
            <a:ext cx="11430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A052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これだけで前回の文脈を完全に復元して作業開始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" y="5166360"/>
            <a:ext cx="11430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  要件定義の変更と実装の変更を混在させない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5550408"/>
            <a:ext cx="11430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  修正はユーザーが各セッションで明示的に承認してから行う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2C4A3E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2：初期構築 ― 「一言」でフルスタックを構築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914400"/>
            <a:ext cx="12192000" cy="5486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9728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E9E9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ユーザーが入力した一言：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508760"/>
            <a:ext cx="11247120" cy="594360"/>
          </a:xfrm>
          <a:prstGeom prst="rect">
            <a:avLst/>
          </a:prstGeom>
          <a:solidFill>
            <a:srgbClr val="2D2012"/>
          </a:solidFill>
          <a:ln w="12700">
            <a:solidFill>
              <a:srgbClr val="1A120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60020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"CLAUDE.mdをベースに、プロジェクト初期構築してください。"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C4A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Claudeが自律的に実行したこと（この一言だけで）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2834640"/>
            <a:ext cx="5577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requirements.md（要件定義書）を読み込み、仕様を把握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218688"/>
            <a:ext cx="5577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npm create vite でフロントエンドを初期化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602736"/>
            <a:ext cx="5577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Tailwind CSS / React Router / React Hook Form を設定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986784"/>
            <a:ext cx="5577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④ Express + SQLite のバックエンドをセットアップ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309360" y="2834640"/>
            <a:ext cx="5577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⑤ 全10ページのReactコンポーネントを生成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09360" y="3218688"/>
            <a:ext cx="5577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⑥ 全9エンドポイントのAPIを実装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09360" y="3602736"/>
            <a:ext cx="5577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⑦ DBのテーブル定義 + シードデータを自動挿入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09360" y="3986784"/>
            <a:ext cx="5577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⑧ git commit &amp; push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4983480"/>
            <a:ext cx="11247120" cy="594360"/>
          </a:xfrm>
          <a:prstGeom prst="rect">
            <a:avLst/>
          </a:prstGeom>
          <a:solidFill>
            <a:srgbClr val="2C4A3E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498348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9A84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成果：フロントエンド 10ページ ＋ バックエンド 9 API ＋ DB（4テーブル・シードデータ）を 1 セッションで完成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2C4A3E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自律的なトラブル解決 ― エラーはClaudeが解消する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914400"/>
            <a:ext cx="12192000" cy="5486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972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052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例：better-sqlite3 のインストール失敗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1645920"/>
            <a:ext cx="11247120" cy="731520"/>
          </a:xfrm>
          <a:prstGeom prst="rect">
            <a:avLst/>
          </a:prstGeom>
          <a:solidFill>
            <a:srgbClr val="2D2012"/>
          </a:solidFill>
          <a:ln w="12700">
            <a:solidFill>
              <a:srgbClr val="1A120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7373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エラー: Node.js v22 向けのビルド済みバイナリが存在しない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prebuild binary not found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25146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C4A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Claudeがやったこと（ユーザーは何もしていない）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3063240"/>
            <a:ext cx="3474720" cy="411480"/>
          </a:xfrm>
          <a:prstGeom prst="rect">
            <a:avLst/>
          </a:prstGeom>
          <a:solidFill>
            <a:srgbClr val="2C4A3E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063240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エラーログを読んで原因を特定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114800" y="3063240"/>
            <a:ext cx="7589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"prebuild binary not found" → バイナリ未対応と判断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566160"/>
            <a:ext cx="3474720" cy="411480"/>
          </a:xfrm>
          <a:prstGeom prst="rect">
            <a:avLst/>
          </a:prstGeom>
          <a:solidFill>
            <a:srgbClr val="2C4A3E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566160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npmパッケージのバージョン履歴を調査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114800" y="3566160"/>
            <a:ext cx="7589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v9.6.0 ではなく v12.8.0 が Node.js v22 対応と確認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4069080"/>
            <a:ext cx="3474720" cy="411480"/>
          </a:xfrm>
          <a:prstGeom prst="rect">
            <a:avLst/>
          </a:prstGeom>
          <a:solidFill>
            <a:srgbClr val="2C4A3E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4069080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バージョン指定でインストール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114800" y="4069080"/>
            <a:ext cx="7589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npm install better-sqlite3@12.8.0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4572000"/>
            <a:ext cx="3474720" cy="411480"/>
          </a:xfrm>
          <a:prstGeom prst="rect">
            <a:avLst/>
          </a:prstGeom>
          <a:solidFill>
            <a:srgbClr val="2C4A3E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572000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④ 動作確認 → 解決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114800" y="4572000"/>
            <a:ext cx="7589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DB接続テストを実行して完了を確認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5166360"/>
            <a:ext cx="11247120" cy="50292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51663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ユーザーは「エラーが出ました」と伝えるだけ  ―  調査 → 修正 → 確認まですべて自律実行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2C4A3E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画像収集・外部サービス連携 ― 検索→DL→実装を一気通貫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914400"/>
            <a:ext cx="12192000" cy="5486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972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C4A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"雰囲気の近い画像を見つかれば良いです" の一言から…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1828800"/>
            <a:ext cx="2103120" cy="2286000"/>
          </a:xfrm>
          <a:prstGeom prst="rect">
            <a:avLst/>
          </a:prstGeom>
          <a:solidFill>
            <a:srgbClr val="E8F0ED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51560" y="1920240"/>
            <a:ext cx="731520" cy="731520"/>
          </a:xfrm>
          <a:prstGeom prst="ellipse">
            <a:avLst/>
          </a:prstGeom>
          <a:solidFill>
            <a:srgbClr val="2C4A3E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19202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84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C4A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WebSearch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324612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Unsplash Photo IDを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テーマ別に並行検索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514600" y="2651760"/>
            <a:ext cx="182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84C"/>
                </a:solidFill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697480" y="1828800"/>
            <a:ext cx="2103120" cy="2286000"/>
          </a:xfrm>
          <a:prstGeom prst="rect">
            <a:avLst/>
          </a:prstGeom>
          <a:solidFill>
            <a:srgbClr val="E8F0ED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83280" y="1920240"/>
            <a:ext cx="731520" cy="731520"/>
          </a:xfrm>
          <a:prstGeom prst="ellipse">
            <a:avLst/>
          </a:prstGeom>
          <a:solidFill>
            <a:srgbClr val="2C4A3E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83280" y="19202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84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697480" y="2788920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C4A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URL確認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788920" y="324612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一覧をユーザーに提示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内容確認（安全確認）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46320" y="2651760"/>
            <a:ext cx="182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84C"/>
                </a:solidFill>
              </a:rPr>
              <a:t>→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029200" y="1828800"/>
            <a:ext cx="2103120" cy="2286000"/>
          </a:xfrm>
          <a:prstGeom prst="rect">
            <a:avLst/>
          </a:prstGeom>
          <a:solidFill>
            <a:srgbClr val="E8F0ED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715000" y="1920240"/>
            <a:ext cx="731520" cy="731520"/>
          </a:xfrm>
          <a:prstGeom prst="ellipse">
            <a:avLst/>
          </a:prstGeom>
          <a:solidFill>
            <a:srgbClr val="2C4A3E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715000" y="19202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84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029200" y="2788920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C4A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並行DL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120640" y="324612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20枚を一括ダウンロード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public/images/ に配置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178040" y="2651760"/>
            <a:ext cx="182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84C"/>
                </a:solidFill>
              </a:rPr>
              <a:t>→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7360920" y="1828800"/>
            <a:ext cx="2103120" cy="2286000"/>
          </a:xfrm>
          <a:prstGeom prst="rect">
            <a:avLst/>
          </a:prstGeom>
          <a:solidFill>
            <a:srgbClr val="E8F0ED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046720" y="1920240"/>
            <a:ext cx="731520" cy="731520"/>
          </a:xfrm>
          <a:prstGeom prst="ellipse">
            <a:avLst/>
          </a:prstGeom>
          <a:solidFill>
            <a:srgbClr val="2C4A3E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46720" y="19202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84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7360920" y="2788920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C4A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コード修正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452360" y="324612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プレースホルダーを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&lt;img&gt;タグに自動差し替え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9509760" y="2651760"/>
            <a:ext cx="182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84C"/>
                </a:solidFill>
              </a:rPr>
              <a:t>→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9692640" y="1828800"/>
            <a:ext cx="2103120" cy="2286000"/>
          </a:xfrm>
          <a:prstGeom prst="rect">
            <a:avLst/>
          </a:prstGeom>
          <a:solidFill>
            <a:srgbClr val="E8F0ED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378440" y="1920240"/>
            <a:ext cx="731520" cy="731520"/>
          </a:xfrm>
          <a:prstGeom prst="ellipse">
            <a:avLst/>
          </a:prstGeom>
          <a:solidFill>
            <a:srgbClr val="2C4A3E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378440" y="19202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84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9692640" y="2788920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C4A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スライダー化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9784080" y="324612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ヒーローを5秒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自動切替に改修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57200" y="438912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▶  Unsplashの直接fetchが403エラー → WebSearchで代替（自ら判断）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457200" y="484632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▶  「内容を確認してからDL」というユーザーの安全確認にもきちんと対応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2C4A3E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メール送信機能の実装 ― 自然な日本語から機能を実装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914400"/>
            <a:ext cx="12192000" cy="5486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E9E9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ユーザーの指示：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508760"/>
            <a:ext cx="11247120" cy="594360"/>
          </a:xfrm>
          <a:prstGeom prst="rect">
            <a:avLst/>
          </a:prstGeom>
          <a:solidFill>
            <a:srgbClr val="2D2012"/>
          </a:solidFill>
          <a:ln w="12700">
            <a:solidFill>
              <a:srgbClr val="1A120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60020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"予約した後、予約情報を xuguoqi00@gmail.com に送信してくれますか。"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4A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技術的指示ゼロ。自然な日本語だけでメール送信機能を実装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274320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A052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デモ見せ場：技術的議論のやり取り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5303520" cy="685800"/>
          </a:xfrm>
          <a:prstGeom prst="rect">
            <a:avLst/>
          </a:prstGeom>
          <a:solidFill>
            <a:srgbClr val="E8F0ED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3291840"/>
            <a:ext cx="5120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👤 ユーザー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送信元をユーザーのアドレスにしたい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943600" y="34290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84C"/>
                </a:solidFill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492240" y="3246120"/>
            <a:ext cx="5212080" cy="685800"/>
          </a:xfrm>
          <a:prstGeom prst="rect">
            <a:avLst/>
          </a:prstGeom>
          <a:solidFill>
            <a:srgbClr val="2C4A3E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0" y="3291840"/>
            <a:ext cx="5029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🤖 Claude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SMTP制約を説明 → Reply-To方式で代替提案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4160520"/>
            <a:ext cx="5303520" cy="685800"/>
          </a:xfrm>
          <a:prstGeom prst="rect">
            <a:avLst/>
          </a:prstGeom>
          <a:solidFill>
            <a:srgbClr val="E8F0ED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206240"/>
            <a:ext cx="5120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👤 ユーザー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Googleアプリパスワードの取得で詰まる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0" y="43434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84C"/>
                </a:solidFill>
              </a:rPr>
              <a:t>→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492240" y="4160520"/>
            <a:ext cx="5212080" cy="685800"/>
          </a:xfrm>
          <a:prstGeom prst="rect">
            <a:avLst/>
          </a:prstGeom>
          <a:solidFill>
            <a:srgbClr val="2C4A3E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0" y="4206240"/>
            <a:ext cx="5029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🤖 Claude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設定URLを直接案内して解決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5166360"/>
            <a:ext cx="11247120" cy="50292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51663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技術的制約をきちんと説明し、代替案を提示する ― 丸投げではなく対話で解決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2C4A3E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完成したサイト ― 実際の画面構成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914400"/>
            <a:ext cx="12192000" cy="5486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097280"/>
            <a:ext cx="3657600" cy="1737360"/>
          </a:xfrm>
          <a:prstGeom prst="rect">
            <a:avLst/>
          </a:prstGeom>
          <a:solidFill>
            <a:srgbClr val="E8F0ED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1887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C4A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トップページ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3291840" cy="2743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783080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Unsplash実画像の5秒スライダー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+ 予約検索フォーム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97680" y="1097280"/>
            <a:ext cx="36576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97680" y="11887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C4A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客室一覧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80560" y="1691640"/>
            <a:ext cx="3291840" cy="2743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89120" y="1783080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6室のカード形式一覧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（画像・料金・設備）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29600" y="1097280"/>
            <a:ext cx="3657600" cy="1737360"/>
          </a:xfrm>
          <a:prstGeom prst="rect">
            <a:avLst/>
          </a:prstGeom>
          <a:solidFill>
            <a:srgbClr val="E8F0ED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11887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C4A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予約フロー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412480" y="1691640"/>
            <a:ext cx="3291840" cy="2743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21040" y="1783080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4ステップ式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日程→客室→情報→確認→完了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65760" y="3108960"/>
            <a:ext cx="36576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32004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C4A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アクセス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3703320"/>
            <a:ext cx="3291840" cy="2743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3794760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OpenStreetMap埋め込み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（APIキー不要・無料）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297680" y="3108960"/>
            <a:ext cx="3657600" cy="1737360"/>
          </a:xfrm>
          <a:prstGeom prst="rect">
            <a:avLst/>
          </a:prstGeom>
          <a:solidFill>
            <a:srgbClr val="E8F0ED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297680" y="32004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C4A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お問い合わせ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480560" y="3703320"/>
            <a:ext cx="3291840" cy="2743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389120" y="3794760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フォーム送信 →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メール通知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229600" y="3108960"/>
            <a:ext cx="36576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29600" y="32004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C4A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お知らせ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8412480" y="3703320"/>
            <a:ext cx="3291840" cy="2743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21040" y="3794760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ニュース一覧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カテゴリ別表示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57200" y="521208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E9E9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 http://localhost:5173  でローカル動作確認済み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2C4A3E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3：自動テスト ― 一言でテスト基盤を構築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914400"/>
            <a:ext cx="12192000" cy="5486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E9E9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ユーザーの指示：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508760"/>
            <a:ext cx="11247120" cy="731520"/>
          </a:xfrm>
          <a:prstGeom prst="rect">
            <a:avLst/>
          </a:prstGeom>
          <a:solidFill>
            <a:srgbClr val="2D2012"/>
          </a:solidFill>
          <a:ln w="12700">
            <a:solidFill>
              <a:srgbClr val="1A120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6002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"私がインストールした playwright を利用し、自動単体テストを実施したいです。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あなたが単体テストの EXCEL ファイルを作成し、ここの単体テストも実施してもらえますか。"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237744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C4A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Claudeが自律的に実行したこと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2880360"/>
            <a:ext cx="11247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ページ構成・フォーム仕様を読み込み → テストケース 16件 を自ら設計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3300984"/>
            <a:ext cx="11247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tests/package.json 作成 → npm install（playwright + exceljs）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3721608"/>
            <a:ext cx="11247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npx playwright install chromium でブラウザを自動インストール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4142232"/>
            <a:ext cx="11247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④ run-tests.js（約400行）を生成 — テストロジック + Excel生成を一ファイルに統合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4562856"/>
            <a:ext cx="11247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⑤ サーバー起動確認（curl）→ テスト実行 → 全16件 PASS → Excel出力まで一気通貫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5029200"/>
            <a:ext cx="11247120" cy="59436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502920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結果：16件 / 16件  PASS（初回実行）  ―  合計実行時間 約40秒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2C4A3E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テスト Excel レポート ― そのまま納品物として使えるクオリティ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914400"/>
            <a:ext cx="12192000" cy="5486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097280"/>
            <a:ext cx="5486400" cy="3200400"/>
          </a:xfrm>
          <a:prstGeom prst="rect">
            <a:avLst/>
          </a:prstGeom>
          <a:solidFill>
            <a:srgbClr val="E8F0ED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18872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4A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Sheet 1「テストケース一覧」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37360"/>
          <a:ext cx="5303520" cy="2377440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TC-ID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テスト名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結果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4A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TC-001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トップページ表示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PASS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TC-005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予約フロー完走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PASS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TC-010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電話番号バリデーション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PASS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…（16件）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…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全PASS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217920" y="1097280"/>
            <a:ext cx="5486400" cy="3200400"/>
          </a:xfrm>
          <a:prstGeom prst="rect">
            <a:avLst/>
          </a:prstGeom>
          <a:solidFill>
            <a:srgbClr val="E8F0ED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309360" y="118872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4A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Sheet TC-001〜TC-016（エビデンス）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309360" y="1783080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▶  テストID・テスト名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309360" y="2286000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▶  実施日時・実施結果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309360" y="2788920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▶  スクリーンショット（実画面）</a:t>
            </a:r>
            <a:endParaRPr lang="en-US" sz="1300" dirty="0"/>
          </a:p>
        </p:txBody>
      </p:sp>
      <p:sp>
        <p:nvSpPr>
          <p:cNvPr id="7" name="Text 10"/>
          <p:cNvSpPr/>
          <p:nvPr/>
        </p:nvSpPr>
        <p:spPr>
          <a:xfrm>
            <a:off x="6309360" y="3291840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▶  各テストケース独立 1シート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309360" y="3429000"/>
            <a:ext cx="5212080" cy="685800"/>
          </a:xfrm>
          <a:prstGeom prst="rect">
            <a:avLst/>
          </a:prstGeom>
          <a:solidFill>
            <a:srgbClr val="2C4A3E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309360" y="3429000"/>
            <a:ext cx="5212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9A84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全17シート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C9A84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（一覧1 + エビデンス16）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365760" y="4683760"/>
            <a:ext cx="11338560" cy="6731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74320" y="4683760"/>
            <a:ext cx="11338560" cy="6731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ja-JP" altLang="en-US" sz="1300" b="1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</a:t>
            </a:r>
            <a:r>
              <a:rPr lang="en-US" altLang="ja-JP" sz="1300" b="1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tests/test-results.xlsx</a:t>
            </a:r>
            <a:r>
              <a:rPr lang="ja-JP" altLang="en-US" sz="1300" b="1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」をご参照ください</a:t>
            </a:r>
            <a:endParaRPr lang="en-US" sz="1300" b="1" dirty="0">
              <a:solidFill>
                <a:srgbClr val="2D2012"/>
              </a:solidFill>
              <a:latin typeface="Yu Gothic" pitchFamily="34" charset="0"/>
              <a:ea typeface="Yu Gothic" pitchFamily="34" charset="-122"/>
              <a:cs typeface="Yu Gothic" pitchFamily="34" charset="-120"/>
            </a:endParaRPr>
          </a:p>
          <a:p>
            <a:pPr marL="0" indent="0" algn="ctr">
              <a:buNone/>
            </a:pPr>
            <a:r>
              <a:rPr lang="en-US" sz="1300" b="1" dirty="0" err="1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スクリーンショット付きエビデンスシートは業務での検収・納品書類としてそのまま使えるクオリティ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2C4A3E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プロンプト設計のコツ ― 効果的だったパターン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914400"/>
            <a:ext cx="12192000" cy="5486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143000"/>
            <a:ext cx="2697480" cy="502920"/>
          </a:xfrm>
          <a:prstGeom prst="rect">
            <a:avLst/>
          </a:prstGeom>
          <a:solidFill>
            <a:srgbClr val="2C4A3E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143000"/>
            <a:ext cx="2697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9A84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一言指示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1737360"/>
            <a:ext cx="2697480" cy="1280160"/>
          </a:xfrm>
          <a:prstGeom prst="rect">
            <a:avLst/>
          </a:prstGeom>
          <a:solidFill>
            <a:srgbClr val="E8F0ED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78308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C4A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実例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2103120"/>
            <a:ext cx="2514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「CLAUDE.mdをベースに、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初期構築してください」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3108960"/>
            <a:ext cx="2697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84C"/>
                </a:solidFill>
              </a:rPr>
              <a:t>↓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65760" y="3474720"/>
            <a:ext cx="26974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352044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A052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3840480"/>
            <a:ext cx="2514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要件定義書を読み込み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フルスタック全体を構築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337560" y="1143000"/>
            <a:ext cx="2697480" cy="502920"/>
          </a:xfrm>
          <a:prstGeom prst="rect">
            <a:avLst/>
          </a:prstGeom>
          <a:solidFill>
            <a:srgbClr val="2C4A3E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37560" y="1143000"/>
            <a:ext cx="2697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9A84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画像を渡す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337560" y="1737360"/>
            <a:ext cx="2697480" cy="1280160"/>
          </a:xfrm>
          <a:prstGeom prst="rect">
            <a:avLst/>
          </a:prstGeom>
          <a:solidFill>
            <a:srgbClr val="E8F0ED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37560" y="178308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C4A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実例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429000" y="2103120"/>
            <a:ext cx="2514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スクリーンショットを貼り付けて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「この画面を改修して」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337560" y="3108960"/>
            <a:ext cx="2697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84C"/>
                </a:solidFill>
              </a:rPr>
              <a:t>↓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3337560" y="3474720"/>
            <a:ext cx="26974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37560" y="352044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A052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429000" y="3840480"/>
            <a:ext cx="2514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現状を正確に把握した上で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改修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309360" y="1143000"/>
            <a:ext cx="2697480" cy="502920"/>
          </a:xfrm>
          <a:prstGeom prst="rect">
            <a:avLst/>
          </a:prstGeom>
          <a:solidFill>
            <a:srgbClr val="2C4A3E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09360" y="1143000"/>
            <a:ext cx="2697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9A84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自然な日本語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309360" y="1737360"/>
            <a:ext cx="2697480" cy="1280160"/>
          </a:xfrm>
          <a:prstGeom prst="rect">
            <a:avLst/>
          </a:prstGeom>
          <a:solidFill>
            <a:srgbClr val="E8F0ED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09360" y="178308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C4A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実例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400800" y="2103120"/>
            <a:ext cx="2514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「予約情報を〇〇に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送信してくれますか」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309360" y="3108960"/>
            <a:ext cx="2697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84C"/>
                </a:solidFill>
              </a:rPr>
              <a:t>↓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6309360" y="3474720"/>
            <a:ext cx="26974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352044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A052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400800" y="3840480"/>
            <a:ext cx="2514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技術的指示なしで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メール機能を実装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9281160" y="1143000"/>
            <a:ext cx="2697480" cy="502920"/>
          </a:xfrm>
          <a:prstGeom prst="rect">
            <a:avLst/>
          </a:prstGeom>
          <a:solidFill>
            <a:srgbClr val="2C4A3E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281160" y="1143000"/>
            <a:ext cx="2697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9A84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制約を伝える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9281160" y="1737360"/>
            <a:ext cx="2697480" cy="1280160"/>
          </a:xfrm>
          <a:prstGeom prst="rect">
            <a:avLst/>
          </a:prstGeom>
          <a:solidFill>
            <a:srgbClr val="E8F0ED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281160" y="178308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C4A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実例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9372600" y="2103120"/>
            <a:ext cx="2514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「早いほうで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お願いします」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9281160" y="3108960"/>
            <a:ext cx="2697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84C"/>
                </a:solidFill>
              </a:rPr>
              <a:t>↓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>
            <a:off x="9281160" y="3474720"/>
            <a:ext cx="26974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281160" y="352044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A052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372600" y="3840480"/>
            <a:ext cx="2514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速度優先で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手段を自ら選択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365760" y="4754880"/>
            <a:ext cx="11338560" cy="502920"/>
          </a:xfrm>
          <a:prstGeom prst="rect">
            <a:avLst/>
          </a:prstGeom>
          <a:solidFill>
            <a:srgbClr val="2C4A3E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5760" y="4754880"/>
            <a:ext cx="11338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「意図を伝えれば十分」 ―  実装方法の指定は不要。曖昧さを恐れない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2C4A3E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ユーザーがやること・やらなくていいこと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914400"/>
            <a:ext cx="12192000" cy="5486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097280"/>
            <a:ext cx="5303520" cy="4389120"/>
          </a:xfrm>
          <a:prstGeom prst="rect">
            <a:avLst/>
          </a:prstGeom>
          <a:solidFill>
            <a:srgbClr val="E8F0ED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188720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C4A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🤖 Claudeが全部やる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1737360"/>
            <a:ext cx="4754880" cy="3657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92024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  ライブラリのバージョン選定・インストール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23317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  npm / git コマンドの実行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274320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  ファイルの作成・編集（何十ファイルでも）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31546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  エラーの調査・修正・確認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35661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  テストケースの設計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" y="397764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  テストスクリプトの実装・実行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48640" y="43891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  Excelレポートのフォーマット設計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8640" y="480060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  ブラウザのインストール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17920" y="1097280"/>
            <a:ext cx="5303520" cy="4389120"/>
          </a:xfrm>
          <a:prstGeom prst="rect">
            <a:avLst/>
          </a:prstGeom>
          <a:solidFill>
            <a:srgbClr val="FFF8E7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09360" y="1188720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👤 ユーザーが判断・確認する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492240" y="1737360"/>
            <a:ext cx="4754880" cy="3657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0" y="1920240"/>
            <a:ext cx="5029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▶  ダウンロードURLの内容確認（セキュリティ）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00800" y="2423160"/>
            <a:ext cx="5029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▶  送信元メールアドレスの設計方針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00800" y="2926080"/>
            <a:ext cx="5029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▶  画像テーマ・ズームレベルの方向性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00800" y="3429000"/>
            <a:ext cx="5029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▶  最終的な予約フロー設計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00800" y="3931920"/>
            <a:ext cx="5029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▶  APIキー・認証情報の準備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65760" y="5623560"/>
            <a:ext cx="11338560" cy="502920"/>
          </a:xfrm>
          <a:prstGeom prst="rect">
            <a:avLst/>
          </a:prstGeom>
          <a:solidFill>
            <a:srgbClr val="2C4A3E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5623560"/>
            <a:ext cx="11338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9A84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「実行はClaude、判断はユーザー」の役割分担が最適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2C4A3E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ライブデモ：今ここで拡張機能を実装する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914400"/>
            <a:ext cx="12192000" cy="5486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051560"/>
            <a:ext cx="113385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4A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要件書に書いてあった「将来拡張」機能を、この場でプロンプトを入力して実装します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572768"/>
            <a:ext cx="5577840" cy="1188720"/>
          </a:xfrm>
          <a:prstGeom prst="rect">
            <a:avLst/>
          </a:prstGeom>
          <a:solidFill>
            <a:srgbClr val="E8F0ED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664208"/>
            <a:ext cx="594360" cy="594360"/>
          </a:xfrm>
          <a:prstGeom prst="ellipse">
            <a:avLst/>
          </a:prstGeom>
          <a:solidFill>
            <a:srgbClr val="2C4A3E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664208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9A84C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34440" y="1627632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C4A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ユーザー認証・会員登録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234440" y="2103120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会員登録・ログイン・ログアウト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ログイン後にマイページ（予約履歴）を閲覧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309360" y="1572768"/>
            <a:ext cx="5577840" cy="1188720"/>
          </a:xfrm>
          <a:prstGeom prst="rect">
            <a:avLst/>
          </a:prstGeom>
          <a:solidFill>
            <a:srgbClr val="E8F0ED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46520" y="1664208"/>
            <a:ext cx="594360" cy="594360"/>
          </a:xfrm>
          <a:prstGeom prst="ellipse">
            <a:avLst/>
          </a:prstGeom>
          <a:solidFill>
            <a:srgbClr val="2C4A3E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46520" y="1664208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9A84C"/>
                </a:solidFill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178040" y="1627632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C4A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予約等の管理画面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178040" y="2103120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予約一覧・ステータス変更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客室・プランの登録・編集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65760" y="2880360"/>
            <a:ext cx="11338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A052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デモプロンプト①  ユーザー認証・会員登録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65760" y="3337560"/>
            <a:ext cx="11338560" cy="1051560"/>
          </a:xfrm>
          <a:prstGeom prst="rect">
            <a:avLst/>
          </a:prstGeom>
          <a:solidFill>
            <a:srgbClr val="2D2012"/>
          </a:solidFill>
          <a:ln w="12700">
            <a:solidFill>
              <a:srgbClr val="1A120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342900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session-dev.mdを読んで、以下の機能を追加してください。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ユーザー認証機能（会員登録・ログイン・ログアウト）を実装してください。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バックエンド: JWT認証。/api/auth/register と /api/auth/login を追加。usersテーブルも作成。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フロントエンド: /register・/login・/mypage（予約履歴）を追加。ヘッダーに認証状態を反映。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65760" y="4480560"/>
            <a:ext cx="11338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A052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デモプロンプト②  予約等の管理画面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365760" y="4937760"/>
            <a:ext cx="11338560" cy="1051560"/>
          </a:xfrm>
          <a:prstGeom prst="rect">
            <a:avLst/>
          </a:prstGeom>
          <a:solidFill>
            <a:srgbClr val="2D2012"/>
          </a:solidFill>
          <a:ln w="12700">
            <a:solidFill>
              <a:srgbClr val="1A120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502920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session-dev.mdを読んで、以下の機能を追加してください。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旅館スタッフ向けの管理画面を実装してください。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/admin/login（簡易パスワード認証）→ /admin/reservations（予約一覧・ステータス変更）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/admin/rooms と /admin/plans（客室・プラン一覧・編集）も追加してください。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6053328"/>
            <a:ext cx="11338560" cy="475488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6053328"/>
            <a:ext cx="11338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聴衆に「どちらから実装しますか？」と問いかけ → プロンプトを貼り付け → 実装される様子をリアルタイムで見せる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2C4A3E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まとめ・Q&amp;A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914400"/>
            <a:ext cx="12192000" cy="5486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9728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C4A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所要時間まとめ</a:t>
            </a:r>
            <a:endParaRPr lang="en-US" sz="15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6858000" cy="210312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フェーズ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所要時間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主な成果物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4A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Phase 1 要件定義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約1時間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requirements.md / GitHub push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Phase 2 開発実装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約2〜3時間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フルスタックWebアプリ（10ページ+9 API）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Phase 3 自動テスト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約30分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16件 PASS / Excelレポート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合計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A052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約4〜5時間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本番レベルのデモサイト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680960" y="109728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4A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ClaudeCodeが向いているユースケース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680960" y="1600200"/>
            <a:ext cx="365760" cy="34747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80960" y="1600200"/>
            <a:ext cx="365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✓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138160" y="1600200"/>
            <a:ext cx="4023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プロトタイプ・デモサイトの高速構築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7680960" y="2020824"/>
            <a:ext cx="365760" cy="34747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680960" y="2020824"/>
            <a:ext cx="365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✓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138160" y="2020824"/>
            <a:ext cx="4023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要件定義書・設計ドキュメントの自動生成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80960" y="2441448"/>
            <a:ext cx="365760" cy="34747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680960" y="2441448"/>
            <a:ext cx="365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✓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138160" y="2441448"/>
            <a:ext cx="4023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テストスクリプトの作成・実行</a:t>
            </a:r>
            <a:endParaRPr lang="en-US" sz="1200" dirty="0"/>
          </a:p>
        </p:txBody>
      </p:sp>
      <p:sp>
        <p:nvSpPr>
          <p:cNvPr id="6" name="Shape 14"/>
          <p:cNvSpPr/>
          <p:nvPr/>
        </p:nvSpPr>
        <p:spPr>
          <a:xfrm>
            <a:off x="7680960" y="2862072"/>
            <a:ext cx="365760" cy="34747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680960" y="2862072"/>
            <a:ext cx="365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✓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138160" y="2862072"/>
            <a:ext cx="4023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既存コードのリファクタリング・機能追加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680960" y="3282696"/>
            <a:ext cx="365760" cy="34747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680960" y="3282696"/>
            <a:ext cx="365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✓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138160" y="3282696"/>
            <a:ext cx="4023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エラー調査・デバッグの自律実行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457200" y="3840480"/>
            <a:ext cx="11247120" cy="548640"/>
          </a:xfrm>
          <a:prstGeom prst="rect">
            <a:avLst/>
          </a:prstGeom>
          <a:solidFill>
            <a:srgbClr val="E8F0ED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57200" y="38404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C4A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利用料金：Claude Code Pro プラン（月額定額）で利用 ― 追加従量課金なし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457200" y="457200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E9E9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GitHub: https://github.com/alken-xu/firstClaudeProject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57200" y="5074920"/>
            <a:ext cx="11247120" cy="594360"/>
          </a:xfrm>
          <a:prstGeom prst="rect">
            <a:avLst/>
          </a:prstGeom>
          <a:solidFill>
            <a:srgbClr val="2C4A3E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7200" y="5074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C9A84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 &amp; A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1258</Words>
  <Application>Microsoft Office PowerPoint</Application>
  <PresentationFormat>ワイド画面</PresentationFormat>
  <Paragraphs>320</Paragraphs>
  <Slides>16</Slides>
  <Notes>16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16</vt:i4>
      </vt:variant>
    </vt:vector>
  </HeadingPairs>
  <TitlesOfParts>
    <vt:vector size="20" baseType="lpstr">
      <vt:lpstr>Yu Gothic</vt:lpstr>
      <vt:lpstr>Arial</vt:lpstr>
      <vt:lpstr>Courier New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国旗 徐</cp:lastModifiedBy>
  <cp:revision>3</cp:revision>
  <dcterms:created xsi:type="dcterms:W3CDTF">2026-04-06T00:51:05Z</dcterms:created>
  <dcterms:modified xsi:type="dcterms:W3CDTF">2026-04-06T07:22:31Z</dcterms:modified>
</cp:coreProperties>
</file>